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365760"/>
          </a:xfrm>
          <a:prstGeom prst="roundRect">
            <a:avLst/>
          </a:prstGeom>
          <a:solidFill>
            <a:srgbClr val="102A4D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6FF"/>
                </a:solidFill>
              </a:defRPr>
            </a:pPr>
            <a:r>
              <a:t>PROCESSO SELETIVO • SENIOR DATA STRATEGIST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Transformação da Jornada Conversacional de Sinistros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Diagnóstico Analítico do Funil, Governança de Dados e Roadmap de Evolução com IA Generativa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291840" cy="13716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6FF"/>
                </a:solidFill>
              </a:defRPr>
            </a:pPr>
            <a:r>
              <a:t>46,9% STP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Resolução 100%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114800"/>
            <a:ext cx="3291840" cy="13716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R$ 157,9k / ano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Custo em Transbordo Humano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114800"/>
            <a:ext cx="3291840" cy="13716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R$ 57,6M / ano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Sinistros Abandonados em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Candidato: Senior Data Strategist  |  Empresa Parceira: Blip  |  Cliente: Convex Seguros  |  Período: Jan - Abr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GOVERNANÇA &amp; ENGENHARIA DE DADOS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Auditoria e Saneamento da Base de Produção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91440" cy="1554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Deduplicação Técnica</a:t>
            </a:r>
          </a:p>
          <a:p>
            <a:pPr>
              <a:spcBef>
                <a:spcPts val="200"/>
              </a:spcBef>
              <a:defRPr sz="1100" b="1">
                <a:solidFill>
                  <a:srgbClr val="F59E0B"/>
                </a:solidFill>
              </a:defRPr>
            </a:pPr>
            <a:r>
              <a:t>7.502 ➔ 7.000 Registros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Identificação de 502 registros duplicados de ID_Conversa entre 10 e 24 de março, causados por falha de ingestão de logs. Base limpa consolidada em exatamente 7.000 atendimentos únicos.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91440" cy="155448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Padronização Categórica</a:t>
            </a:r>
          </a:p>
          <a:p>
            <a:pPr>
              <a:spcBef>
                <a:spcPts val="200"/>
              </a:spcBef>
              <a:defRPr sz="1100" b="1">
                <a:solidFill>
                  <a:srgbClr val="0066FF"/>
                </a:solidFill>
              </a:defRPr>
            </a:pPr>
            <a:r>
              <a:t>Normalização de Desfechos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Correção de desvios de digitação na coluna Status_Final ('RESOLVIDO_BOT', 'Resolvido_bot', 'ESCALADO HUMANO', 'abandono') para 3 categorias estritas padronizadas.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069080"/>
            <a:ext cx="91440" cy="1554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Formatação Numérica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Conversão pt-BR ➔ Float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Substituição de vírgulas por pontos nas colunas de 'Tempo_Resolucao_Min' e 'Valor_Estimado_Sinistro_RS' para viabilizar cálculos matemáticos, e estruturação de datas.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4069080"/>
            <a:ext cx="91440" cy="1554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Auditoria de Nulos Válidos</a:t>
            </a:r>
          </a:p>
          <a:p>
            <a:pPr>
              <a:spcBef>
                <a:spcPts val="200"/>
              </a:spcBef>
              <a:defRPr sz="1100" b="1">
                <a:solidFill>
                  <a:srgbClr val="EF4444"/>
                </a:solidFill>
              </a:defRPr>
            </a:pPr>
            <a:r>
              <a:t>Detecção do Ponto Cego de CSAT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Constatação de que os 1.658 abandonos possuem nulo legítimo em CSAT. Isso comprovou para a diretoria que a média oficial de 4,02 esconde os clientes frustrados.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ANÁLISE DE CONVERSÃO &amp; FUNIL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Diagnóstico Quantitativo da Jornada (7.000 Conversas)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097280"/>
                <a:gridCol w="1097280"/>
                <a:gridCol w="1097280"/>
              </a:tblGrid>
              <a:tr h="62701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Etapa da Jornada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Entraram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Abandonos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Escalados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Conclusão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Evasão %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1. Início / Saudação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2,2%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2. Validação Apólice ⚠️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6.845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1.114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19,9%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3. Coleta de 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5.485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12,3%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4. Upload Fotos/Docs 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4.812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23,1%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5. Análise Automática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3.703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11,3%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6. Confirmação / Protocolo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3.285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3.285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0,0% (STP)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321040" y="1554480"/>
            <a:ext cx="3108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⚠️ GARGALO #1: TRANSIÇÃO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54,2% dos Transbordos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1.114 de todos os 2.057 escalonamentos para atendentes humanos acontecem logo na Validação de Apólice, com foco em Vida e Empresas.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886200"/>
            <a:ext cx="3108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🚨 GARGALO #2: EVASÃO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47,0% dos Abandonos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780 dos 1.658 abandonos totais acontecem na etapa de Upload de Fotos e Documentos. O cliente preenche os dados do sinistro, mas desiste no envio de arquivos.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ANÁLISE DE PRODUTO &amp; COMPORTAMENTO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Diagnóstico Fino de Causa-Raiz Técnica e Cognitiva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GARGALO 1: VALIDAÇÃO DE APÓLICE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• Rigidez de Titularidade (Seguro Vida): </a:t>
            </a:r>
            <a:r>
              <a:rPr b="0">
                <a:solidFill>
                  <a:srgbClr val="64748B"/>
                </a:solidFill>
              </a:rPr>
              <a:t>No seguro de Vida, o sinistro é acionado pelo beneficiário ou herdeiro. Como o CPF informado não é o do titular falecido, o robô rejeita e transborda para o humano (37,1% de transbordo em Vida).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• Complexidade Corporativa (Frotas): </a:t>
            </a:r>
            <a:r>
              <a:rPr b="0">
                <a:solidFill>
                  <a:srgbClr val="64748B"/>
                </a:solidFill>
              </a:rPr>
              <a:t>Motoristas de empresas e funcionários acionam apólices jurídicas sem saber os dados do CNPJ tomador, travando o fluxo (apenas 37,5% de sucesso em Corporativo).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• Intolerância de Entrada de Dados: </a:t>
            </a:r>
            <a:r>
              <a:rPr b="0">
                <a:solidFill>
                  <a:srgbClr val="64748B"/>
                </a:solidFill>
              </a:rPr>
              <a:t>Erros simples de digitação na placa (com ou sem hífen) e pontuação de CPF causam rejeição automática em vez de buscas inteligentes aproximadas.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GARGALO 2: UPLOAD DE FOTOS E DOCUMENTOS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• Sobrecarga Mental e Falta de Instrução: </a:t>
            </a:r>
            <a:r>
              <a:rPr b="0">
                <a:solidFill>
                  <a:srgbClr val="64748B"/>
                </a:solidFill>
              </a:rPr>
              <a:t>O robô pede vários documentos e fotos de danos de uma só vez, sem dar exemplos visuais de ângulos aceitos nem mostrar uma barra de progresso.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• Arquivos Pesados e Formatos Rejeitados: </a:t>
            </a:r>
            <a:r>
              <a:rPr b="0">
                <a:solidFill>
                  <a:srgbClr val="64748B"/>
                </a:solidFill>
              </a:rPr>
              <a:t>Fotos modernas em alta resolução (como formato HEIC do iPhone ou arquivos acima de 15MB) estouram o limite da API do WhatsApp e dão erro sem explicação ao cliente.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• Expiração de Sessão por Inatividade (Timeout): </a:t>
            </a:r>
            <a:r>
              <a:rPr b="0">
                <a:solidFill>
                  <a:srgbClr val="64748B"/>
                </a:solidFill>
              </a:rPr>
              <a:t>Enquanto o cliente sai do aplicativo para buscar documentos físicos (CNH, documento do carro) ou fotografar o veículo, o tempo limite expira e a conversa é encerrada.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MODELAGEM FINANCEIRA &amp; OPERAÇÕES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Impacto Operacional &amp; Custo de Transbordo (OPEX)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TEMPO MÉDIO DE ATENDIMENTO — VIA BOT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9,37 minutos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Resolução 100% digital, rápida e conveniente para o segurado (3.285 casos resolvidos).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TEMPO MÉDIO DE ATENDIMENTO — ESCALADO HUMANO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38,39 minutos (+309%)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O atendente gasta 4x mais tempo porque o cliente tem que repetir tudo o que já havia digitado.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CONSUMO DE CAPACIDADE HUMANA &amp; CUSTO ANUALIZADO (FATOR DE PROJEÇÃO × 3)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Horas de Analistas Consumidas: 1.316,3 horas nos 4 meses auditados ➔ Projeção de 3.948,8 horas/ano gastas com transbordos.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Custo Médio por Transbordo: R$ 25,60 gastos em cada atendimento escalado (considerando hora de analista a R$ 40,00 carregada).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Gasto Operacional Total Atual: R$ 52.650,47 no quadrimestre ➔ R$ 157.951,40 por ano jogados fora por ineficiência do assistente.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Economia com Melhoria de 40%: Reduzir 823 transbordos por quadrimestre poupa 1.580 horas humanas e economiza R$ 63.180,56/ano em salários.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RISCO DE NEGÓCIO &amp; EXPERIÊNCIA DO CLIENTE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Exposição Financeira em Risco &amp; O Ponto Cego do CSAT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R$ 19,22M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Capital Abandonado (4 Meses)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1.257 sinistros onde o cliente já tinha digitado o valor financeiro do dano e desistiu.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R$ 57,65M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Exposição Anual em Risco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Volume anual de sinistros em risco de virar reclamação formal no Procon, SUSEP ou processo judicial.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66FF"/>
                </a:solidFill>
              </a:defRPr>
            </a:pPr>
            <a:r>
              <a:t>R$ 44.390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Ticket Médio Sinistro Vida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O seguro de Vida retém o maior valor em dinheiro por sinistro, mas sofre a maior taxa de falhas.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DESMASCARANDO O 'PONTO CEGO' DO CSAT MÉDIO DE 4,02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Queda no CSAT (Bot 4,28 vs. Humano 3,61): </a:t>
            </a:r>
            <a:r>
              <a:rPr b="0">
                <a:solidFill>
                  <a:srgbClr val="64748B"/>
                </a:solidFill>
              </a:rPr>
              <a:t>O cliente escalado para atendimento humano chega irritado com a espera e a repetição de perguntas, derrubando a nota de satisfação em quase 0,7 ponto.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O Ponto Cego Estatístico: </a:t>
            </a:r>
            <a:r>
              <a:rPr b="0">
                <a:solidFill>
                  <a:srgbClr val="64748B"/>
                </a:solidFill>
              </a:rPr>
              <a:t>A nota de satisfação só é pedida para quem conclui o atendimento. Os 1.658 clientes que abandonaram o chat (23,7% do total) têm ZERO notas registradas.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Falsa Sensação de Segurança: </a:t>
            </a:r>
            <a:r>
              <a:rPr b="0">
                <a:solidFill>
                  <a:srgbClr val="64748B"/>
                </a:solidFill>
              </a:rPr>
              <a:t>A diretoria achava que o serviço era bem avaliado (nota 4,02), mas a realidade é que quase 1 em cada 4 pessoas desiste frustrada antes do final.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PRODUTO DE DADOS ESCALÁVEL (STREAMLIT + PYTHON)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Cockpit Analítico &amp; Simulador de Negócio com GenAI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Aba 1: Funil &amp; Diagnóstico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Visualização Dinâmica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Progressão das 6 etapas com filtros dinâmicos por Canal (WhatsApp/App), Segmento (Varejo/Premium/Corporativo) e Dispositivo (Android/iOS) com gráficos interativos.</a:t>
            </a:r>
          </a:p>
          <a:p>
            <a:pPr>
              <a:spcBef>
                <a:spcPts val="1400"/>
              </a:spcBef>
              <a:defRPr sz="950" i="1">
                <a:solidFill>
                  <a:srgbClr val="0066FF"/>
                </a:solidFill>
              </a:defRPr>
            </a:pPr>
            <a:r>
              <a:t>Status: 100% Funcional e operando na máquina via Streamlit.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Aba 2: Simulador Financeiro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Resiliência à Banca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Painel interativo com barras deslizantes (sliders) para alterar o Custo/Hora Humana (R$ 25 a R$ 80), Meta de STP e Recuperação de Sinistros em tempo real durante a apresentação.</a:t>
            </a:r>
          </a:p>
          <a:p>
            <a:pPr>
              <a:spcBef>
                <a:spcPts val="1400"/>
              </a:spcBef>
              <a:defRPr sz="950" i="1">
                <a:solidFill>
                  <a:srgbClr val="0066FF"/>
                </a:solidFill>
              </a:defRPr>
            </a:pPr>
            <a:r>
              <a:t>Status: 100% Funcional e operando na máquina via Streamlit.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Aba 3: Assistente com IA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Módulo 'Ask the Data'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Chatbot inteligente acoplado à base que responde perguntas executivas e fornece diagnósticos sintetizados automaticamente usando inteligência artificial generativa.</a:t>
            </a:r>
          </a:p>
          <a:p>
            <a:pPr>
              <a:spcBef>
                <a:spcPts val="1400"/>
              </a:spcBef>
              <a:defRPr sz="950" i="1">
                <a:solidFill>
                  <a:srgbClr val="0066FF"/>
                </a:solidFill>
              </a:defRPr>
            </a:pPr>
            <a:r>
              <a:t>Status: 100% Funcional e operando na máquina via Streamlit.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TRANSFORMAÇÃO DA EXPERIÊNCIA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Roadmap Estratégico de Evolução de Produto (2026)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6FF"/>
                </a:solidFill>
              </a:defRPr>
            </a:pPr>
            <a:r>
              <a:t>FASE 1: 0 A 3 MESES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Quick Wins &amp; Eficiência Imediata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Guia Visual de Fotos: Mensagens com exemplos visuais no WhatsApp mostrando fotos nítidas aceitas.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Compressão no Celular: Redução automática de tamanho de fotos (HEIC/JPG) no próprio smartphone antes do envio.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Warm Handoff por IA: Resumo automático do sinistro gerado por LLM na tela do atendente humano.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Impacto: Redução imediata do tempo de atendimento de 38 min para &lt;25 min e estabilização de CSAT.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FASE 2: 3 A 6 MESES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Inteligência &amp; Segmentação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Validação Visual por IA: Visão computacional checando em tempo real se a foto do dano está nítida.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Fluxos para Terceiros: Validação inteligente para beneficiários de Vida e condutores de frotas da empresa.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Régua Ativa no WhatsApp: Mensagem automática após 15 minutos chamando o cliente de volta para terminar o upload.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Impacto: +12 pontos percentuais de STP e corte de 40% nos abandonos de 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FASE 3: 6 A 12 MESES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Automação Total (End-to-End)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Fast-Track STP: Aprovação e liberação imediata do pagamento para sinistros pequenos e clientes sem histórico de risco.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Agendamento de Oficinas: O cliente escolhe a oficina credenciada e agenda o reparo diretamente no chat.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Antifraude em Tempo Real: IA analisando histórico e fotos para barrar fraudes antes da aprovação.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Impacto: Resolução digital acima de 65%, economia anual de OPEX &gt; R$ 80k e CSAT superior a 4,6.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GOVERNANÇA METODOLÓGICA DE IA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Como a IA Generativa foi Orquestrada no Projeto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91440" cy="155448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Ferramentas Selecionadas</a:t>
            </a:r>
          </a:p>
          <a:p>
            <a:pPr>
              <a:spcBef>
                <a:spcPts val="200"/>
              </a:spcBef>
              <a:defRPr sz="1100" b="1">
                <a:solidFill>
                  <a:srgbClr val="0066FF"/>
                </a:solidFill>
              </a:defRPr>
            </a:pPr>
            <a:r>
              <a:t>Foundation Models &amp; Python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Uso de Modelos de Linguagem Avançados (Claude 3.5 Sonnet / GPT-4o / Gemini Pro) integrados com execução Python para engenharia de dados automatizada e síntese analítica.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91440" cy="1554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Engenharia de Prompts</a:t>
            </a:r>
          </a:p>
          <a:p>
            <a:pPr>
              <a:spcBef>
                <a:spcPts val="200"/>
              </a:spcBef>
              <a:defRPr sz="1100" b="1">
                <a:solidFill>
                  <a:srgbClr val="F59E0B"/>
                </a:solidFill>
              </a:defRPr>
            </a:pPr>
            <a:r>
              <a:t>Role-Prompting &amp; Raciocínio Passo a Passo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Prompts definindo o papel de especialista ('Atue como Senior Data Strategist focado em seguradoras e Blip'), exigindo raciocínio prévio em etapas antes de emitir recomendações.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069080"/>
            <a:ext cx="91440" cy="1554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Validação Humana (Human-in-the-Loop)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Detecção de Falhas e Alucinações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Supervisão humana para auditar as 502 linhas duplicadas no banco de produção, identificar a falta de CSAT nos abandonos e calibrar a projeção anual multiplicando por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4069080"/>
            <a:ext cx="91440" cy="15544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Geração do Produto de Dados</a:t>
            </a:r>
          </a:p>
          <a:p>
            <a:pPr>
              <a:spcBef>
                <a:spcPts val="200"/>
              </a:spcBef>
              <a:defRPr sz="1100" b="1">
                <a:solidFill>
                  <a:srgbClr val="9333EA"/>
                </a:solidFill>
              </a:defRPr>
            </a:pPr>
            <a:r>
              <a:t>Automação de Código e Dashboard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Aceleração do desenvolvimento do painel Streamlit interativo com gráficos Plotly e módulo consultivo em linguagem natural para apoiar a diretoria da Convex.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6FF"/>
                </a:solidFill>
              </a:defRPr>
            </a:pPr>
            <a:r>
              <a:t>DEFESA ESTRATÉGICA • 20 MIN + 10 MIN Q&amp;A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Conclusão Executiva &amp; Prontidão para a Banca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6FF"/>
                </a:solidFill>
              </a:defRPr>
            </a:pPr>
            <a:r>
              <a:t>Mudança ao Vivo: O orçamento para IA foi cortado em 50%. O que manter?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Defesa Estratégica: Priorizamos integralmente as melhorias da Fase 1 (Quick Wins). Guias de fotos no WhatsApp, compressão de imagens no celular e regras mais flexíveis de validação custam quase zero em servidores e resolvem mais de 50% dos abandonos de upload.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2801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6FF"/>
                </a:solidFill>
              </a:defRPr>
            </a:pPr>
            <a:r>
              <a:t>Mudança ao Vivo: A diretoria quer priorizar apenas Seguro Auto e cancelar o resto.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Defesa Estratégica: Ajustamos o foco para a validação visual de danos de lataria e para-choques por visão computacional. O Seguro Auto concentra 54,8% de todos os sinistros (3.835 casos), entregando escala rápida e retorno financeiro imediato.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10698480" cy="12801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6FF"/>
                </a:solidFill>
              </a:defRPr>
            </a:pPr>
            <a:r>
              <a:t>Mudança ao Vivo: O custo da hora humana na verdade é R$ 60,00 e não R$ 40,00.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Defesa Estratégica: Demonstramos ao vivo no Simulador que cada transbordo passa a custar R$ 38,40 e o prejuízo anual sobe para R$ 236,9 mil. Isso aumenta o retorno sobre investimento (ROI) e torna a automação ainda mais urgente para a empresa.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Obrigado! Aberto para perguntas da banca, demonstração do Dashboard e simulação de cenários dinâmicos.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